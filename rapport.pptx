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635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8640"/>
            <a:ext cx="73152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97280"/>
            <a:ext cx="96012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F4B400"/>
                </a:solidFill>
                <a:latin typeface="Poppins"/>
              </a:rPr>
              <a:t>TOGO AI LAB · DATA CHALLENGE ENVIRONNEMENT (DÉFI 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241280" cy="13716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oppins"/>
              </a:rPr>
              <a:t>Accès à l'Eau Potable au Togo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10058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0">
                <a:solidFill>
                  <a:srgbClr val="E0EFEA"/>
                </a:solidFill>
                <a:latin typeface="Poppins"/>
              </a:rPr>
              <a:t>Diagnostic spatial des infrastructures, évaluation de la durabilité du parc, analyse de la pression démographique et cartographie du risque d'inondation (FRI).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34840"/>
            <a:ext cx="3291840" cy="1097280"/>
          </a:xfrm>
          <a:prstGeom prst="rect">
            <a:avLst/>
          </a:prstGeom>
          <a:solidFill>
            <a:srgbClr val="083E3A"/>
          </a:solidFill>
          <a:ln w="762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F4B400"/>
                </a:solidFill>
                <a:latin typeface="Poppins"/>
              </a:rPr>
              <a:t>285 Ouvrages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TdE (67) + COSO (218)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434840"/>
            <a:ext cx="3291840" cy="1097280"/>
          </a:xfrm>
          <a:prstGeom prst="rect">
            <a:avLst/>
          </a:prstGeom>
          <a:solidFill>
            <a:srgbClr val="083E3A"/>
          </a:solidFill>
          <a:ln w="762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57200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F4B400"/>
                </a:solidFill>
                <a:latin typeface="Poppins"/>
              </a:rPr>
              <a:t>388 Cantons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93776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Évalués FRI (ISRI-TG)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434840"/>
            <a:ext cx="3291840" cy="1097280"/>
          </a:xfrm>
          <a:prstGeom prst="rect">
            <a:avLst/>
          </a:prstGeom>
          <a:solidFill>
            <a:srgbClr val="083E3A"/>
          </a:solidFill>
          <a:ln w="762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57200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F4B400"/>
                </a:solidFill>
                <a:latin typeface="Poppins"/>
              </a:rPr>
              <a:t>Livraison Complète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93776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Dashboard Streamlit + 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0">
                <a:solidFill>
                  <a:srgbClr val="A0C4C0"/>
                </a:solidFill>
                <a:latin typeface="Poppins"/>
              </a:rPr>
              <a:t>Sources de données ouvertes : TdE (Inventaire &amp; Ventes) · Projet COSO (Microprojets) · INSEED/RGPH 2010 · ISRI-TG (Indices FSI/FRI)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CADRE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Contexte &amp; Démarche Analytique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94360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57784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Objectifs &amp; Méthodologie du Défi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Diagnostic Intégré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Évaluer l'accès à l'eau potable au Togo à travers le croisement de 5 jeux de données ouverts nationaux.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Pipeline ETL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Normalisation géographique sous pandas/geopandas, jointure spatiale points × cantons FRI et calcul d'indicateurs régionaux.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Proxy de Durabilité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En l'absence de statut opérationnel publié, utilisation du taux de plan d'entretien documenté (COSO) et d'un score de priorité de contrôle.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Livrables Réglementaires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3095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Déploiement d'un dashboard analytique interactif (Streamlit) et présent rapport d'analyse synthétique (≤ 10 pages).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280160"/>
            <a:ext cx="5029200" cy="4937760"/>
          </a:xfrm>
          <a:prstGeom prst="rect">
            <a:avLst/>
          </a:prstGeom>
          <a:solidFill>
            <a:srgbClr val="F4F7F6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Chiffres Clés du Diagnostic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96596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07568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0B4F4A"/>
                </a:solidFill>
                <a:latin typeface="Poppins"/>
              </a:rPr>
              <a:t>285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0312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Ouvrages hydrauliques recensés au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83464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94436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14877D"/>
                </a:solidFill>
                <a:latin typeface="Poppins"/>
              </a:rPr>
              <a:t>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7180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Ouvrages avec géolocalisation exploitable (52,6 %)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70332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81304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D9622B"/>
                </a:solidFill>
                <a:latin typeface="Poppins"/>
              </a:rPr>
              <a:t>39,4 %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Points COSO avec coordonnées valides (132 à corriger)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57200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468172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D9622B"/>
                </a:solidFill>
                <a:latin typeface="Poppins"/>
              </a:rPr>
              <a:t>20,6 %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0916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Projets COSO avec plan d'entretien documenté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544068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55040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D9622B"/>
                </a:solidFill>
                <a:latin typeface="Poppins"/>
              </a:rPr>
              <a:t>115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57784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Ouvrages COSO classés en priorité de contrôle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Cartographie &amp; Répartition Spatiale des Ouvrages</a:t>
            </a:r>
          </a:p>
        </p:txBody>
      </p:sp>
      <p:pic>
        <p:nvPicPr>
          <p:cNvPr id="7" name="Picture 6" descr="map_points_f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280160"/>
            <a:ext cx="521208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Constats &amp; Qualité des Données Spatiales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800" cy="82296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0116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Hétérogénéité territoriale extrême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677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L'inventaire TdE est quasi-exclusivement centré sur la région Maritime (65/67 ouvrages, soit 97 %). Les microprojets COSO couvrent le Nord (Savanes: 192, Kara: 13, Centrale: 13).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83280"/>
            <a:ext cx="50800" cy="8229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832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Défi majeur de géolocalisation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393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Seuls 150 des 285 ouvrages disposent de coordonnées valides. 60,6 % des points COSO (132/218) présentent des coordonnées nulles (0,0) et ne peuvent pas être cartographiés.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754880"/>
            <a:ext cx="50800" cy="82296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Conséquence pour le pilotage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0109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cartes actuelles reflètent la localisation des inventaires disponibles et non l'exhaustivité de la couverture nationale en eau potable.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État du Parc &amp; Proxy de Maintenance</a:t>
            </a:r>
          </a:p>
        </p:txBody>
      </p:sp>
      <p:pic>
        <p:nvPicPr>
          <p:cNvPr id="7" name="Picture 6" descr="m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3060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280160"/>
            <a:ext cx="521208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Diagnostic de Durabilité &amp; Score de Contrôle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800" cy="8686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0116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Absence de statut opérationnel publié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677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données ouvertes TdE et COSO ne contiennent pas les champs 'fonctionnel', 'en panne' ou 'abandonné'. Le taux de fonctionnalité réel ne peut donc pas être calculé directement.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832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832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Taux de plan d'entretien très faible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393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Seuls 20,6 % des projets COSO disposent d'un plan d'entretien documenté (100 % en Kara, 46,2 % en Centrale, 13,5 % en Savanes).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754880"/>
            <a:ext cx="50800" cy="8686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Score indicatif de priorité de contrôle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0109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Un score composite (0 à 100) a été modélisé : absence de plan (45%), statut non définitif (25%), absence de remise (15%) et FRI (15%). Il classe 115 ouvrages en 'Priorité de contrôle' pour cibler les audits terrain.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Pression Démographique vs Infrastructures</a:t>
            </a:r>
          </a:p>
        </p:txBody>
      </p:sp>
      <p:pic>
        <p:nvPicPr>
          <p:cNvPr id="7" name="Picture 6" descr="d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306541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280160"/>
            <a:ext cx="521208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Analyse de la Pression &amp; Équité Territoriale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0116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Forte disparité de densité apparente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677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La densité varie de 23.18 points / 100k hab. en Savanes (forte concentration COSO) à seulement 0.07 en Plateaux et 3.69 en Maritime (selon inventaires publiés).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832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832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Base démographique INSEED 2010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393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L'analyse s'appuie sur la population légale du RGPH 2010. Le secteur des Plateaux affiche le déficit relatif d'équipement documenté le plus prononcé.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7548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Vigilance d'interprétation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0109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La densité d'ouvrages ne mesure pas le taux de desserte effective : la capacité, le débit et le rayon de couverture de chaque point d'eau ne sont pas renseignés dans les jeux ouverts.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Vulnérabilité &amp; Risque d'Inondation (FRI)</a:t>
            </a:r>
          </a:p>
        </p:txBody>
      </p:sp>
      <p:pic>
        <p:nvPicPr>
          <p:cNvPr id="7" name="Picture 6" descr="fri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389120" cy="454231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0" y="1280160"/>
            <a:ext cx="667512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63040"/>
            <a:ext cx="630936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Croisement Spatiale : Cantons FRI × Ouvrages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011680"/>
            <a:ext cx="6309360" cy="1097280"/>
          </a:xfrm>
          <a:prstGeom prst="rect">
            <a:avLst/>
          </a:prstGeom>
          <a:solidFill>
            <a:srgbClr val="F4F7F6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14884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Poppins"/>
              </a:rPr>
              <a:t>75 Cantons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514600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En risque 'Élevé' (FRI &gt; 0.13), regroupant 4,764,690 habitants.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337560"/>
            <a:ext cx="6309360" cy="1097280"/>
          </a:xfrm>
          <a:prstGeom prst="rect">
            <a:avLst/>
          </a:prstGeom>
          <a:solidFill>
            <a:srgbClr val="F4F7F6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4747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Poppins"/>
              </a:rPr>
              <a:t>77 Ouvrages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0480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Géolocalisés situés directement dans des cantons FRI 'Élevé' (47 en Maritime, 27 en Savanes).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4663440"/>
            <a:ext cx="6309360" cy="1097280"/>
          </a:xfrm>
          <a:prstGeom prst="rect">
            <a:avLst/>
          </a:prstGeom>
          <a:solidFill>
            <a:srgbClr val="F4F7F6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80060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1">
                <a:solidFill>
                  <a:srgbClr val="0B4F4A"/>
                </a:solidFill>
                <a:latin typeface="Poppins"/>
              </a:rPr>
              <a:t>Priorité Résilience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166360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Surélévation des têtes de forages, dalles étanches et protection contre la contamination des eaux de crue.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ANALYSE COMPLÉMENTAIRE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Structure &amp; Évolution des Ventes d'Eau TdE</a:t>
            </a:r>
          </a:p>
        </p:txBody>
      </p:sp>
      <p:pic>
        <p:nvPicPr>
          <p:cNvPr id="7" name="Picture 6" descr="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217920" cy="30625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0" y="1280160"/>
            <a:ext cx="484632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463040"/>
            <a:ext cx="448056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Analyse des Ventes d'Eau (2018-2022)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0116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01168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Volume global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267712"/>
            <a:ext cx="429768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 volume total facturé par la TdE s'élève à 473,349 m³ en 2022.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3832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38328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Prédominance de l'usage industriel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639312"/>
            <a:ext cx="429768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catégories 'Forage Usage Autres' (141k m³) et 'Zone Franche' (126k m³) représentent la majorité des volumes d'eau distribués.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7548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75488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Consommation ménages marginale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5010912"/>
            <a:ext cx="429768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abonnements 'Concessions TdE' (63k m³) et 'Collectivités' (35k m³) ne représentent qu'une faible part du volume total, traduisant un besoin d'extension des branchements sociaux domestiques.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PLAN D'ACTION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Recommandations opérationnelles — R1 à R7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28016" cy="106070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35608"/>
            <a:ext cx="475488" cy="42062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08176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MAINTENANCE IMMÉDIATE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91640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Auditer les 173 ouvrages COSO sans plan documenté et programmer une visite trimestrielle avec statut panne/abandon.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98448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98448"/>
            <a:ext cx="128016" cy="106070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28232" y="1435608"/>
            <a:ext cx="475488" cy="42062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47218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408176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SUIVI DE FONCTIONNALITÉ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691640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Relever trimestriellement l'état de chaque ouvrage et publier les champs fonctionnel, en panne, abandonné, date et cause ; le score COSO cible les premières visites.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23744"/>
            <a:ext cx="128016" cy="106070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2660904"/>
            <a:ext cx="475488" cy="42062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2697480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633472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QUALITÉ DES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916936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Corriger les 132 coordonnées nulles (0,0), conserver source/date de mesure et documenter les contrôles terrain.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523744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523744"/>
            <a:ext cx="128016" cy="1060704"/>
          </a:xfrm>
          <a:prstGeom prst="rect">
            <a:avLst/>
          </a:prstGeom>
          <a:solidFill>
            <a:srgbClr val="7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8232" y="2660904"/>
            <a:ext cx="475488" cy="420624"/>
          </a:xfrm>
          <a:prstGeom prst="rect">
            <a:avLst/>
          </a:prstGeom>
          <a:solidFill>
            <a:srgbClr val="7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697480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633472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NOUVEAUX FORAGES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916936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Cibler les cantons à score de priorité élevé, en croisant population, faible densité d'ouvrages et FRI élevé.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40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49040"/>
            <a:ext cx="128016" cy="10607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3886200"/>
            <a:ext cx="475488" cy="42062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392277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58768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RÉSILIENCE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142232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Surélever les équipements électriques, protéger les têtes de forage et prévoir drainage/accès de secours pour les 77 ouvrages en FRI élevé.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749040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40"/>
            <a:ext cx="128016" cy="106070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8232" y="3886200"/>
            <a:ext cx="475488" cy="42062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392277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858768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ÉQUITÉ TERRITORIALE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142232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Compléter la couverture hors Maritime et hors corridor COSO des Savanes, après étude hydrogéologique et test de qualité de l'eau.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74336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74336"/>
            <a:ext cx="128016" cy="106070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5111496"/>
            <a:ext cx="475488" cy="42062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" y="5148072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84064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ACCÈS DOMESTIQUE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367528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Flécher les investissements vers les branchements sociaux et points de desserte, les usages industriels/zone franche dominant les volumes TdE 2022.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Important : le score COSO sert au ciblage des visites ; il ne constitue pas un taux de panne.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Conclusion &amp; Feuille de Route Gouvernance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Bilan Synthétique du Diagnostic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Couverture Hétérogène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Forte disparité spatiale entre la région Maritime (TdE) et le corridor Nord (COSO).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Durabilité à Sécuriser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355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Seuls 20.6 % des ouvrages COSO ont un plan d'entretien documenté, nécessitant un suivi rigoureux.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Vulnérabilité Climatique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2511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77 ouvrages géolocalisés sont exposés à un risque d'inondation élevé (FRI &gt; 0.13).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Livrables Opérationnels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7667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Un dashboard interactif fonctionnel (.zip) et ce rapport d'analyse pour guider les décideurs.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5486400" cy="4937760"/>
          </a:xfrm>
          <a:prstGeom prst="rect">
            <a:avLst/>
          </a:prstGeom>
          <a:solidFill>
            <a:srgbClr val="F4F7F6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Feuille de Route pour la Gouvernance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6596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07568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1 : Standardisation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Instaurer un schéma géographique commun (GPS, codes cantons) pour tous les projets d'eau.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12724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2 : Campagne Terrain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8328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Déployer un contrôle physique sur les 115 ouvrages identifiés en priorité de contrôle.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06908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17880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3 : Interconnexion Portail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3484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Mettre à jour et unifier les jeux TdE, COSO et Ministère sur l'écosystème opendata.gouv.tg.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2064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23036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4 : Suivi d'Impact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8640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Mesurer le taux de desserte effectif et la fonctionnalité réelle au niveau canton.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